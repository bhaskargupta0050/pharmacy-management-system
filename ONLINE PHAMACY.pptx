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70" r:id="rId5"/>
    <p:sldId id="271" r:id="rId6"/>
    <p:sldId id="265" r:id="rId7"/>
    <p:sldId id="269" r:id="rId8"/>
    <p:sldId id="268" r:id="rId9"/>
    <p:sldId id="267" r:id="rId10"/>
    <p:sldId id="266" r:id="rId11"/>
    <p:sldId id="262" r:id="rId12"/>
    <p:sldId id="264" r:id="rId13"/>
    <p:sldId id="263" r:id="rId14"/>
    <p:sldId id="261" r:id="rId15"/>
    <p:sldId id="259"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8" d="100"/>
          <a:sy n="108" d="100"/>
        </p:scale>
        <p:origin x="7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17C563D4-D77E-48DD-9AF1-6E6C37BAB400}" type="datetimeFigureOut">
              <a:rPr lang="en-IN" smtClean="0"/>
              <a:t>06-05-2023</a:t>
            </a:fld>
            <a:endParaRPr lang="en-IN"/>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endParaRPr lang="en-IN"/>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0C762609-85B7-400C-B68E-BB9BD5476298}" type="slidenum">
              <a:rPr lang="en-IN" smtClean="0"/>
              <a:t>‹#›</a:t>
            </a:fld>
            <a:endParaRPr lang="en-IN"/>
          </a:p>
        </p:txBody>
      </p:sp>
    </p:spTree>
    <p:extLst>
      <p:ext uri="{BB962C8B-B14F-4D97-AF65-F5344CB8AC3E}">
        <p14:creationId xmlns:p14="http://schemas.microsoft.com/office/powerpoint/2010/main" val="1111866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C563D4-D77E-48DD-9AF1-6E6C37BAB400}" type="datetimeFigureOut">
              <a:rPr lang="en-IN" smtClean="0"/>
              <a:t>06-05-2023</a:t>
            </a:fld>
            <a:endParaRPr lang="en-IN"/>
          </a:p>
        </p:txBody>
      </p:sp>
      <p:sp>
        <p:nvSpPr>
          <p:cNvPr id="5" name="Footer Placeholder 4"/>
          <p:cNvSpPr>
            <a:spLocks noGrp="1"/>
          </p:cNvSpPr>
          <p:nvPr>
            <p:ph type="ftr" sz="quarter" idx="11"/>
          </p:nvPr>
        </p:nvSpPr>
        <p:spPr/>
        <p:txBody>
          <a:bodyPr/>
          <a:lstStyle>
            <a:lvl1pPr>
              <a:defRPr sz="1000" b="1"/>
            </a:lvl1pPr>
          </a:lstStyle>
          <a:p>
            <a:endParaRPr lang="en-IN"/>
          </a:p>
        </p:txBody>
      </p:sp>
      <p:sp>
        <p:nvSpPr>
          <p:cNvPr id="6" name="Slide Number Placeholder 5"/>
          <p:cNvSpPr>
            <a:spLocks noGrp="1"/>
          </p:cNvSpPr>
          <p:nvPr>
            <p:ph type="sldNum" sz="quarter" idx="12"/>
          </p:nvPr>
        </p:nvSpPr>
        <p:spPr/>
        <p:txBody>
          <a:bodyPr/>
          <a:lstStyle/>
          <a:p>
            <a:fld id="{0C762609-85B7-400C-B68E-BB9BD5476298}" type="slidenum">
              <a:rPr lang="en-IN" smtClean="0"/>
              <a:t>‹#›</a:t>
            </a:fld>
            <a:endParaRPr lang="en-IN"/>
          </a:p>
        </p:txBody>
      </p:sp>
    </p:spTree>
    <p:extLst>
      <p:ext uri="{BB962C8B-B14F-4D97-AF65-F5344CB8AC3E}">
        <p14:creationId xmlns:p14="http://schemas.microsoft.com/office/powerpoint/2010/main" val="361363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C563D4-D77E-48DD-9AF1-6E6C37BAB400}" type="datetimeFigureOut">
              <a:rPr lang="en-IN" smtClean="0"/>
              <a:t>06-05-2023</a:t>
            </a:fld>
            <a:endParaRPr lang="en-IN"/>
          </a:p>
        </p:txBody>
      </p:sp>
      <p:sp>
        <p:nvSpPr>
          <p:cNvPr id="5" name="Footer Placeholder 4"/>
          <p:cNvSpPr>
            <a:spLocks noGrp="1"/>
          </p:cNvSpPr>
          <p:nvPr>
            <p:ph type="ftr" sz="quarter" idx="11"/>
          </p:nvPr>
        </p:nvSpPr>
        <p:spPr/>
        <p:txBody>
          <a:bodyPr/>
          <a:lstStyle>
            <a:lvl1pPr>
              <a:defRPr sz="1000" b="1"/>
            </a:lvl1pPr>
          </a:lstStyle>
          <a:p>
            <a:endParaRPr lang="en-IN"/>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C762609-85B7-400C-B68E-BB9BD5476298}" type="slidenum">
              <a:rPr lang="en-IN" smtClean="0"/>
              <a:t>‹#›</a:t>
            </a:fld>
            <a:endParaRPr lang="en-IN"/>
          </a:p>
        </p:txBody>
      </p:sp>
    </p:spTree>
    <p:extLst>
      <p:ext uri="{BB962C8B-B14F-4D97-AF65-F5344CB8AC3E}">
        <p14:creationId xmlns:p14="http://schemas.microsoft.com/office/powerpoint/2010/main" val="4278490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7C563D4-D77E-48DD-9AF1-6E6C37BAB400}" type="datetimeFigureOut">
              <a:rPr lang="en-IN" smtClean="0"/>
              <a:t>06-05-2023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762609-85B7-400C-B68E-BB9BD5476298}" type="slidenum">
              <a:rPr lang="en-IN" smtClean="0"/>
              <a:t>‹#›</a:t>
            </a:fld>
            <a:endParaRPr lang="en-IN"/>
          </a:p>
        </p:txBody>
      </p:sp>
    </p:spTree>
    <p:extLst>
      <p:ext uri="{BB962C8B-B14F-4D97-AF65-F5344CB8AC3E}">
        <p14:creationId xmlns:p14="http://schemas.microsoft.com/office/powerpoint/2010/main" val="92771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7C563D4-D77E-48DD-9AF1-6E6C37BAB400}" type="datetimeFigureOut">
              <a:rPr lang="en-IN" smtClean="0"/>
              <a:t>06-05-2023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C762609-85B7-400C-B68E-BB9BD5476298}" type="slidenum">
              <a:rPr lang="en-IN" smtClean="0"/>
              <a:t>‹#›</a:t>
            </a:fld>
            <a:endParaRPr lang="en-IN"/>
          </a:p>
        </p:txBody>
      </p:sp>
    </p:spTree>
    <p:extLst>
      <p:ext uri="{BB962C8B-B14F-4D97-AF65-F5344CB8AC3E}">
        <p14:creationId xmlns:p14="http://schemas.microsoft.com/office/powerpoint/2010/main" val="3306310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C563D4-D77E-48DD-9AF1-6E6C37BAB400}" type="datetimeFigureOut">
              <a:rPr lang="en-IN" smtClean="0"/>
              <a:t>06-05-2023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C762609-85B7-400C-B68E-BB9BD5476298}" type="slidenum">
              <a:rPr lang="en-IN" smtClean="0"/>
              <a:t>‹#›</a:t>
            </a:fld>
            <a:endParaRPr lang="en-IN"/>
          </a:p>
        </p:txBody>
      </p:sp>
    </p:spTree>
    <p:extLst>
      <p:ext uri="{BB962C8B-B14F-4D97-AF65-F5344CB8AC3E}">
        <p14:creationId xmlns:p14="http://schemas.microsoft.com/office/powerpoint/2010/main" val="1839867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C563D4-D77E-48DD-9AF1-6E6C37BAB400}" type="datetimeFigureOut">
              <a:rPr lang="en-IN" smtClean="0"/>
              <a:t>06-05-2023</a:t>
            </a:fld>
            <a:endParaRPr lang="en-IN"/>
          </a:p>
        </p:txBody>
      </p:sp>
      <p:sp>
        <p:nvSpPr>
          <p:cNvPr id="3" name="Footer Placeholder 2"/>
          <p:cNvSpPr>
            <a:spLocks noGrp="1"/>
          </p:cNvSpPr>
          <p:nvPr>
            <p:ph type="ftr" sz="quarter" idx="11"/>
          </p:nvPr>
        </p:nvSpPr>
        <p:spPr/>
        <p:txBody>
          <a:bodyPr/>
          <a:lstStyle/>
          <a:p>
            <a:endParaRPr lang="en-IN"/>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C762609-85B7-400C-B68E-BB9BD5476298}" type="slidenum">
              <a:rPr lang="en-IN" smtClean="0"/>
              <a:t>‹#›</a:t>
            </a:fld>
            <a:endParaRPr lang="en-IN"/>
          </a:p>
        </p:txBody>
      </p:sp>
    </p:spTree>
    <p:extLst>
      <p:ext uri="{BB962C8B-B14F-4D97-AF65-F5344CB8AC3E}">
        <p14:creationId xmlns:p14="http://schemas.microsoft.com/office/powerpoint/2010/main" val="123836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C563D4-D77E-48DD-9AF1-6E6C37BAB400}" type="datetimeFigureOut">
              <a:rPr lang="en-IN" smtClean="0"/>
              <a:t>06-05-2023</a:t>
            </a:fld>
            <a:endParaRPr lang="en-IN"/>
          </a:p>
        </p:txBody>
      </p:sp>
      <p:sp>
        <p:nvSpPr>
          <p:cNvPr id="6" name="Footer Placeholder 5"/>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C762609-85B7-400C-B68E-BB9BD5476298}" type="slidenum">
              <a:rPr lang="en-IN" smtClean="0"/>
              <a:t>‹#›</a:t>
            </a:fld>
            <a:endParaRPr lang="en-IN"/>
          </a:p>
        </p:txBody>
      </p:sp>
    </p:spTree>
    <p:extLst>
      <p:ext uri="{BB962C8B-B14F-4D97-AF65-F5344CB8AC3E}">
        <p14:creationId xmlns:p14="http://schemas.microsoft.com/office/powerpoint/2010/main" val="636947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C563D4-D77E-48DD-9AF1-6E6C37BAB400}" type="datetimeFigureOut">
              <a:rPr lang="en-IN" smtClean="0"/>
              <a:t>06-05-2023</a:t>
            </a:fld>
            <a:endParaRPr lang="en-IN"/>
          </a:p>
        </p:txBody>
      </p:sp>
      <p:sp>
        <p:nvSpPr>
          <p:cNvPr id="6" name="Footer Placeholder 5"/>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C762609-85B7-400C-B68E-BB9BD5476298}" type="slidenum">
              <a:rPr lang="en-IN" smtClean="0"/>
              <a:t>‹#›</a:t>
            </a:fld>
            <a:endParaRPr lang="en-IN"/>
          </a:p>
        </p:txBody>
      </p:sp>
    </p:spTree>
    <p:extLst>
      <p:ext uri="{BB962C8B-B14F-4D97-AF65-F5344CB8AC3E}">
        <p14:creationId xmlns:p14="http://schemas.microsoft.com/office/powerpoint/2010/main" val="4085967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C563D4-D77E-48DD-9AF1-6E6C37BAB400}" type="datetimeFigureOut">
              <a:rPr lang="en-IN" smtClean="0"/>
              <a:t>06-05-2023</a:t>
            </a:fld>
            <a:endParaRPr lang="en-IN"/>
          </a:p>
        </p:txBody>
      </p:sp>
      <p:sp>
        <p:nvSpPr>
          <p:cNvPr id="6" name="Footer Placeholder 5"/>
          <p:cNvSpPr>
            <a:spLocks noGrp="1"/>
          </p:cNvSpPr>
          <p:nvPr>
            <p:ph type="ftr" sz="quarter" idx="11"/>
          </p:nvPr>
        </p:nvSpPr>
        <p:spPr/>
        <p:txBody>
          <a:bodyPr/>
          <a:lstStyle/>
          <a:p>
            <a:endParaRPr lang="en-IN"/>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C762609-85B7-400C-B68E-BB9BD5476298}" type="slidenum">
              <a:rPr lang="en-IN" smtClean="0"/>
              <a:t>‹#›</a:t>
            </a:fld>
            <a:endParaRPr lang="en-IN"/>
          </a:p>
        </p:txBody>
      </p:sp>
    </p:spTree>
    <p:extLst>
      <p:ext uri="{BB962C8B-B14F-4D97-AF65-F5344CB8AC3E}">
        <p14:creationId xmlns:p14="http://schemas.microsoft.com/office/powerpoint/2010/main" val="1500044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7C563D4-D77E-48DD-9AF1-6E6C37BAB400}" type="datetimeFigureOut">
              <a:rPr lang="en-IN" smtClean="0"/>
              <a:t>06-05-2023</a:t>
            </a:fld>
            <a:endParaRPr lang="en-IN"/>
          </a:p>
        </p:txBody>
      </p:sp>
      <p:sp>
        <p:nvSpPr>
          <p:cNvPr id="5" name="Footer Placeholder 4"/>
          <p:cNvSpPr>
            <a:spLocks noGrp="1"/>
          </p:cNvSpPr>
          <p:nvPr>
            <p:ph type="ftr" sz="quarter" idx="11"/>
          </p:nvPr>
        </p:nvSpPr>
        <p:spPr/>
        <p:txBody>
          <a:body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C762609-85B7-400C-B68E-BB9BD5476298}" type="slidenum">
              <a:rPr lang="en-IN" smtClean="0"/>
              <a:t>‹#›</a:t>
            </a:fld>
            <a:endParaRPr lang="en-IN"/>
          </a:p>
        </p:txBody>
      </p:sp>
    </p:spTree>
    <p:extLst>
      <p:ext uri="{BB962C8B-B14F-4D97-AF65-F5344CB8AC3E}">
        <p14:creationId xmlns:p14="http://schemas.microsoft.com/office/powerpoint/2010/main" val="21361630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n-US"/>
              <a:t>Click to edit Master title style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n-US"/>
              <a:t>Click to edit Master text styles</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7C563D4-D77E-48DD-9AF1-6E6C37BAB400}" type="datetimeFigureOut">
              <a:rPr lang="en-IN" smtClean="0"/>
              <a:t>06-05-2023</a:t>
            </a:fld>
            <a:endParaRPr lang="en-IN"/>
          </a:p>
        </p:txBody>
      </p:sp>
      <p:sp>
        <p:nvSpPr>
          <p:cNvPr id="5" name="Footer Placeholder 4"/>
          <p:cNvSpPr>
            <a:spLocks noGrp="1"/>
          </p:cNvSpPr>
          <p:nvPr>
            <p:ph type="ftr" sz="quarter" idx="11"/>
          </p:nvPr>
        </p:nvSpPr>
        <p:spPr/>
        <p:txBody>
          <a:bodyPr/>
          <a:lstStyle/>
          <a:p>
            <a:endParaRPr lang="en-IN"/>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C762609-85B7-400C-B68E-BB9BD5476298}" type="slidenum">
              <a:rPr lang="en-IN" smtClean="0"/>
              <a:t>‹#›</a:t>
            </a:fld>
            <a:endParaRPr lang="en-IN"/>
          </a:p>
        </p:txBody>
      </p:sp>
    </p:spTree>
    <p:extLst>
      <p:ext uri="{BB962C8B-B14F-4D97-AF65-F5344CB8AC3E}">
        <p14:creationId xmlns:p14="http://schemas.microsoft.com/office/powerpoint/2010/main" val="6981245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C563D4-D77E-48DD-9AF1-6E6C37BAB400}" type="datetimeFigureOut">
              <a:rPr lang="en-IN" smtClean="0"/>
              <a:t>06-05-2023</a:t>
            </a:fld>
            <a:endParaRPr lang="en-IN"/>
          </a:p>
        </p:txBody>
      </p:sp>
      <p:sp>
        <p:nvSpPr>
          <p:cNvPr id="5" name="Footer Placeholder 4"/>
          <p:cNvSpPr>
            <a:spLocks noGrp="1"/>
          </p:cNvSpPr>
          <p:nvPr>
            <p:ph type="ftr" sz="quarter" idx="11"/>
          </p:nvPr>
        </p:nvSpPr>
        <p:spPr/>
        <p:txBody>
          <a:bodyPr/>
          <a:lstStyle/>
          <a:p>
            <a:endParaRPr lang="en-IN"/>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C762609-85B7-400C-B68E-BB9BD5476298}" type="slidenum">
              <a:rPr lang="en-IN" smtClean="0"/>
              <a:t>‹#›</a:t>
            </a:fld>
            <a:endParaRPr lang="en-IN"/>
          </a:p>
        </p:txBody>
      </p:sp>
    </p:spTree>
    <p:extLst>
      <p:ext uri="{BB962C8B-B14F-4D97-AF65-F5344CB8AC3E}">
        <p14:creationId xmlns:p14="http://schemas.microsoft.com/office/powerpoint/2010/main" val="36266736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7C563D4-D77E-48DD-9AF1-6E6C37BAB400}" type="datetimeFigureOut">
              <a:rPr lang="en-IN" smtClean="0"/>
              <a:t>06-05-2023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C762609-85B7-400C-B68E-BB9BD5476298}" type="slidenum">
              <a:rPr lang="en-IN" smtClean="0"/>
              <a:t>‹#›</a:t>
            </a:fld>
            <a:endParaRPr lang="en-IN"/>
          </a:p>
        </p:txBody>
      </p:sp>
    </p:spTree>
    <p:extLst>
      <p:ext uri="{BB962C8B-B14F-4D97-AF65-F5344CB8AC3E}">
        <p14:creationId xmlns:p14="http://schemas.microsoft.com/office/powerpoint/2010/main" val="11238578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7C563D4-D77E-48DD-9AF1-6E6C37BAB400}" type="datetimeFigureOut">
              <a:rPr lang="en-IN" smtClean="0"/>
              <a:t>06-05-2023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C762609-85B7-400C-B68E-BB9BD5476298}" type="slidenum">
              <a:rPr lang="en-IN" smtClean="0"/>
              <a:t>‹#›</a:t>
            </a:fld>
            <a:endParaRPr lang="en-IN"/>
          </a:p>
        </p:txBody>
      </p:sp>
    </p:spTree>
    <p:extLst>
      <p:ext uri="{BB962C8B-B14F-4D97-AF65-F5344CB8AC3E}">
        <p14:creationId xmlns:p14="http://schemas.microsoft.com/office/powerpoint/2010/main" val="17074282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C563D4-D77E-48DD-9AF1-6E6C37BAB400}" type="datetimeFigureOut">
              <a:rPr lang="en-IN" smtClean="0"/>
              <a:t>06-05-2023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762609-85B7-400C-B68E-BB9BD5476298}" type="slidenum">
              <a:rPr lang="en-IN" smtClean="0"/>
              <a:t>‹#›</a:t>
            </a:fld>
            <a:endParaRPr lang="en-IN"/>
          </a:p>
        </p:txBody>
      </p:sp>
    </p:spTree>
    <p:extLst>
      <p:ext uri="{BB962C8B-B14F-4D97-AF65-F5344CB8AC3E}">
        <p14:creationId xmlns:p14="http://schemas.microsoft.com/office/powerpoint/2010/main" val="10395334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C563D4-D77E-48DD-9AF1-6E6C37BAB400}" type="datetimeFigureOut">
              <a:rPr lang="en-IN" smtClean="0"/>
              <a:t>06-05-2023</a:t>
            </a:fld>
            <a:endParaRPr lang="en-IN"/>
          </a:p>
        </p:txBody>
      </p:sp>
      <p:sp>
        <p:nvSpPr>
          <p:cNvPr id="5" name="Footer Placeholder 4"/>
          <p:cNvSpPr>
            <a:spLocks noGrp="1"/>
          </p:cNvSpPr>
          <p:nvPr>
            <p:ph type="ftr" sz="quarter" idx="11"/>
          </p:nvPr>
        </p:nvSpPr>
        <p:spPr/>
        <p:txBody>
          <a:bodyPr/>
          <a:lstStyle/>
          <a:p>
            <a:endParaRPr lang="en-IN"/>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C762609-85B7-400C-B68E-BB9BD5476298}" type="slidenum">
              <a:rPr lang="en-IN" smtClean="0"/>
              <a:t>‹#›</a:t>
            </a:fld>
            <a:endParaRPr lang="en-IN"/>
          </a:p>
        </p:txBody>
      </p:sp>
    </p:spTree>
    <p:extLst>
      <p:ext uri="{BB962C8B-B14F-4D97-AF65-F5344CB8AC3E}">
        <p14:creationId xmlns:p14="http://schemas.microsoft.com/office/powerpoint/2010/main" val="172250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fld id="{17C563D4-D77E-48DD-9AF1-6E6C37BAB400}" type="datetimeFigureOut">
              <a:rPr lang="en-IN" smtClean="0"/>
              <a:t>06-05-2023</a:t>
            </a:fld>
            <a:endParaRPr lang="en-IN"/>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endParaRPr lang="en-IN"/>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C762609-85B7-400C-B68E-BB9BD5476298}" type="slidenum">
              <a:rPr lang="en-IN" smtClean="0"/>
              <a:t>‹#›</a:t>
            </a:fld>
            <a:endParaRPr lang="en-IN"/>
          </a:p>
        </p:txBody>
      </p:sp>
    </p:spTree>
    <p:extLst>
      <p:ext uri="{BB962C8B-B14F-4D97-AF65-F5344CB8AC3E}">
        <p14:creationId xmlns:p14="http://schemas.microsoft.com/office/powerpoint/2010/main" val="318305253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72AD6-6A5A-498C-89AE-4E9497BE176D}"/>
              </a:ext>
            </a:extLst>
          </p:cNvPr>
          <p:cNvSpPr>
            <a:spLocks noGrp="1"/>
          </p:cNvSpPr>
          <p:nvPr>
            <p:ph type="ctrTitle"/>
          </p:nvPr>
        </p:nvSpPr>
        <p:spPr>
          <a:xfrm>
            <a:off x="1524000" y="585926"/>
            <a:ext cx="9144000" cy="3163734"/>
          </a:xfrm>
        </p:spPr>
        <p:txBody>
          <a:bodyPr>
            <a:normAutofit fontScale="90000"/>
          </a:bodyPr>
          <a:lstStyle/>
          <a:p>
            <a:pPr algn="ctr"/>
            <a:r>
              <a:rPr lang="en-IN" b="1">
                <a:latin typeface="Times New Roman" panose="02020603050405020304" pitchFamily="18" charset="0"/>
                <a:cs typeface="Times New Roman" panose="02020603050405020304" pitchFamily="18" charset="0"/>
              </a:rPr>
              <a:t>ONLINE PHARMACY</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MANAGEMENT SYSTEM</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IN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JAVA MYSQL</a:t>
            </a:r>
          </a:p>
        </p:txBody>
      </p:sp>
      <p:sp>
        <p:nvSpPr>
          <p:cNvPr id="4" name="TextBox 3">
            <a:extLst>
              <a:ext uri="{FF2B5EF4-FFF2-40B4-BE49-F238E27FC236}">
                <a16:creationId xmlns:a16="http://schemas.microsoft.com/office/drawing/2014/main" id="{4FD15C84-D727-4746-8714-48A4BE753065}"/>
              </a:ext>
            </a:extLst>
          </p:cNvPr>
          <p:cNvSpPr txBox="1"/>
          <p:nvPr/>
        </p:nvSpPr>
        <p:spPr>
          <a:xfrm>
            <a:off x="488272" y="5459768"/>
            <a:ext cx="3488924" cy="923330"/>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GUIDED BY:-</a:t>
            </a:r>
          </a:p>
          <a:p>
            <a:endParaRPr lang="en-IN" dirty="0"/>
          </a:p>
          <a:p>
            <a:endParaRPr lang="en-IN" dirty="0"/>
          </a:p>
        </p:txBody>
      </p:sp>
      <p:sp>
        <p:nvSpPr>
          <p:cNvPr id="5" name="TextBox 4">
            <a:extLst>
              <a:ext uri="{FF2B5EF4-FFF2-40B4-BE49-F238E27FC236}">
                <a16:creationId xmlns:a16="http://schemas.microsoft.com/office/drawing/2014/main" id="{F416E9DE-392A-4EA3-9887-242792A77848}"/>
              </a:ext>
            </a:extLst>
          </p:cNvPr>
          <p:cNvSpPr txBox="1"/>
          <p:nvPr/>
        </p:nvSpPr>
        <p:spPr>
          <a:xfrm>
            <a:off x="8214804" y="5459768"/>
            <a:ext cx="3488924" cy="923330"/>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SUBMMITED BY:-</a:t>
            </a:r>
          </a:p>
          <a:p>
            <a:endParaRPr lang="en-IN" dirty="0"/>
          </a:p>
          <a:p>
            <a:endParaRPr lang="en-IN" dirty="0"/>
          </a:p>
        </p:txBody>
      </p:sp>
    </p:spTree>
    <p:extLst>
      <p:ext uri="{BB962C8B-B14F-4D97-AF65-F5344CB8AC3E}">
        <p14:creationId xmlns:p14="http://schemas.microsoft.com/office/powerpoint/2010/main" val="2521650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84C09-720B-48ED-8348-05C222AF8F12}"/>
              </a:ext>
            </a:extLst>
          </p:cNvPr>
          <p:cNvSpPr>
            <a:spLocks noGrp="1"/>
          </p:cNvSpPr>
          <p:nvPr>
            <p:ph type="title"/>
          </p:nvPr>
        </p:nvSpPr>
        <p:spPr/>
        <p:txBody>
          <a:bodyPr/>
          <a:lstStyle/>
          <a:p>
            <a:r>
              <a:rPr lang="en-IN" b="1" dirty="0"/>
              <a:t>INDEX</a:t>
            </a:r>
          </a:p>
        </p:txBody>
      </p:sp>
      <p:sp>
        <p:nvSpPr>
          <p:cNvPr id="3" name="Content Placeholder 2">
            <a:extLst>
              <a:ext uri="{FF2B5EF4-FFF2-40B4-BE49-F238E27FC236}">
                <a16:creationId xmlns:a16="http://schemas.microsoft.com/office/drawing/2014/main" id="{E88FBFF3-ED99-4300-854A-96EE6B2561C6}"/>
              </a:ext>
            </a:extLst>
          </p:cNvPr>
          <p:cNvSpPr>
            <a:spLocks noGrp="1"/>
          </p:cNvSpPr>
          <p:nvPr>
            <p:ph idx="1"/>
          </p:nvPr>
        </p:nvSpPr>
        <p:spPr/>
        <p:txBody>
          <a:bodyPr/>
          <a:lstStyle/>
          <a:p>
            <a:r>
              <a:rPr lang="en-IN" b="1" dirty="0"/>
              <a:t>INTRODUCTION</a:t>
            </a:r>
          </a:p>
          <a:p>
            <a:r>
              <a:rPr lang="en-IN" b="1" dirty="0"/>
              <a:t>AIM</a:t>
            </a:r>
          </a:p>
          <a:p>
            <a:r>
              <a:rPr lang="en-IN" b="1" dirty="0"/>
              <a:t>PROBLEM STATEMENT</a:t>
            </a:r>
          </a:p>
          <a:p>
            <a:r>
              <a:rPr lang="en-IN" b="1" dirty="0"/>
              <a:t>LITERATURE REVIEW</a:t>
            </a:r>
          </a:p>
          <a:p>
            <a:r>
              <a:rPr lang="en-IN" b="1" dirty="0"/>
              <a:t>SOFTWARE &amp; HARDWARE REQUIREMENTS</a:t>
            </a:r>
          </a:p>
          <a:p>
            <a:r>
              <a:rPr lang="en-IN" b="1" dirty="0"/>
              <a:t>SYSTEM DESIGN</a:t>
            </a:r>
          </a:p>
          <a:p>
            <a:r>
              <a:rPr lang="en-IN" b="1" dirty="0"/>
              <a:t>CONCLUSION</a:t>
            </a:r>
          </a:p>
          <a:p>
            <a:endParaRPr lang="en-IN" dirty="0"/>
          </a:p>
        </p:txBody>
      </p:sp>
    </p:spTree>
    <p:extLst>
      <p:ext uri="{BB962C8B-B14F-4D97-AF65-F5344CB8AC3E}">
        <p14:creationId xmlns:p14="http://schemas.microsoft.com/office/powerpoint/2010/main" val="3638734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A8BF7-C234-4B2A-B4E6-C3D601D76A70}"/>
              </a:ext>
            </a:extLst>
          </p:cNvPr>
          <p:cNvSpPr>
            <a:spLocks noGrp="1"/>
          </p:cNvSpPr>
          <p:nvPr>
            <p:ph type="title"/>
          </p:nvPr>
        </p:nvSpPr>
        <p:spPr/>
        <p:txBody>
          <a:bodyPr/>
          <a:lstStyle/>
          <a:p>
            <a:r>
              <a:rPr lang="en-IN" b="1" dirty="0"/>
              <a:t>INTRODUCTION</a:t>
            </a:r>
          </a:p>
        </p:txBody>
      </p:sp>
      <p:sp>
        <p:nvSpPr>
          <p:cNvPr id="3" name="Content Placeholder 2">
            <a:extLst>
              <a:ext uri="{FF2B5EF4-FFF2-40B4-BE49-F238E27FC236}">
                <a16:creationId xmlns:a16="http://schemas.microsoft.com/office/drawing/2014/main" id="{C858A3CE-184D-44FE-A7F9-FB9FF489BE8F}"/>
              </a:ext>
            </a:extLst>
          </p:cNvPr>
          <p:cNvSpPr>
            <a:spLocks noGrp="1"/>
          </p:cNvSpPr>
          <p:nvPr>
            <p:ph idx="1"/>
          </p:nvPr>
        </p:nvSpPr>
        <p:spPr/>
        <p:txBody>
          <a:bodyPr>
            <a:normAutofit fontScale="92500" lnSpcReduction="10000"/>
          </a:bodyPr>
          <a:lstStyle/>
          <a:p>
            <a:pPr marL="0" indent="0" algn="just">
              <a:lnSpc>
                <a:spcPct val="150000"/>
              </a:lnSpc>
              <a:buNone/>
            </a:pPr>
            <a:endParaRPr lang="en-US" b="0" i="0" dirty="0">
              <a:solidFill>
                <a:schemeClr val="tx1"/>
              </a:solidFill>
              <a:effectLst/>
              <a:latin typeface="Times New Roman" panose="02020603050405020304" pitchFamily="18" charset="0"/>
              <a:cs typeface="Times New Roman" panose="02020603050405020304" pitchFamily="18" charset="0"/>
            </a:endParaRPr>
          </a:p>
          <a:p>
            <a:pPr algn="just">
              <a:lnSpc>
                <a:spcPct val="150000"/>
              </a:lnSpc>
            </a:pPr>
            <a:r>
              <a:rPr lang="en-US" sz="2200" b="0" i="0" dirty="0">
                <a:solidFill>
                  <a:schemeClr val="tx1"/>
                </a:solidFill>
                <a:effectLst/>
                <a:latin typeface="Times New Roman" panose="02020603050405020304" pitchFamily="18" charset="0"/>
                <a:cs typeface="Times New Roman" panose="02020603050405020304" pitchFamily="18" charset="0"/>
              </a:rPr>
              <a:t>The Online Pharmacy Management System is a Java-based project that is designed to provide efficient management of pharmacy operations. </a:t>
            </a:r>
          </a:p>
          <a:p>
            <a:pPr algn="just">
              <a:lnSpc>
                <a:spcPct val="150000"/>
              </a:lnSpc>
            </a:pPr>
            <a:r>
              <a:rPr lang="en-US" sz="2200" b="0" i="0" dirty="0">
                <a:solidFill>
                  <a:schemeClr val="tx1"/>
                </a:solidFill>
                <a:effectLst/>
                <a:latin typeface="Times New Roman" panose="02020603050405020304" pitchFamily="18" charset="0"/>
                <a:cs typeface="Times New Roman" panose="02020603050405020304" pitchFamily="18" charset="0"/>
              </a:rPr>
              <a:t>This system allows pharmacy staff to manage their inventory, sales, and customer records in a convenient and easy-to-use way. </a:t>
            </a:r>
          </a:p>
          <a:p>
            <a:pPr algn="just">
              <a:lnSpc>
                <a:spcPct val="150000"/>
              </a:lnSpc>
            </a:pPr>
            <a:r>
              <a:rPr lang="en-US" sz="2200" b="0" i="0" dirty="0">
                <a:solidFill>
                  <a:schemeClr val="tx1"/>
                </a:solidFill>
                <a:effectLst/>
                <a:latin typeface="Times New Roman" panose="02020603050405020304" pitchFamily="18" charset="0"/>
                <a:cs typeface="Times New Roman" panose="02020603050405020304" pitchFamily="18" charset="0"/>
              </a:rPr>
              <a:t>This project is developed using Java programming language and MySQL database management system.</a:t>
            </a:r>
          </a:p>
          <a:p>
            <a:endParaRPr lang="en-IN" dirty="0"/>
          </a:p>
        </p:txBody>
      </p:sp>
    </p:spTree>
    <p:extLst>
      <p:ext uri="{BB962C8B-B14F-4D97-AF65-F5344CB8AC3E}">
        <p14:creationId xmlns:p14="http://schemas.microsoft.com/office/powerpoint/2010/main" val="1231952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E684C-210D-4198-92E8-708402CF4BF1}"/>
              </a:ext>
            </a:extLst>
          </p:cNvPr>
          <p:cNvSpPr>
            <a:spLocks noGrp="1"/>
          </p:cNvSpPr>
          <p:nvPr>
            <p:ph type="title"/>
          </p:nvPr>
        </p:nvSpPr>
        <p:spPr/>
        <p:txBody>
          <a:bodyPr/>
          <a:lstStyle/>
          <a:p>
            <a:r>
              <a:rPr lang="en-IN" b="1" dirty="0"/>
              <a:t>AIM</a:t>
            </a:r>
          </a:p>
        </p:txBody>
      </p:sp>
      <p:sp>
        <p:nvSpPr>
          <p:cNvPr id="3" name="Content Placeholder 2">
            <a:extLst>
              <a:ext uri="{FF2B5EF4-FFF2-40B4-BE49-F238E27FC236}">
                <a16:creationId xmlns:a16="http://schemas.microsoft.com/office/drawing/2014/main" id="{3C7BE8BE-18F2-45AC-B747-612A819098BB}"/>
              </a:ext>
            </a:extLst>
          </p:cNvPr>
          <p:cNvSpPr>
            <a:spLocks noGrp="1"/>
          </p:cNvSpPr>
          <p:nvPr>
            <p:ph idx="1"/>
          </p:nvPr>
        </p:nvSpPr>
        <p:spPr/>
        <p:txBody>
          <a:bodyPr/>
          <a:lstStyle/>
          <a:p>
            <a:pPr algn="just">
              <a:lnSpc>
                <a:spcPct val="150000"/>
              </a:lnSpc>
            </a:pPr>
            <a:r>
              <a:rPr lang="en-US" dirty="0">
                <a:solidFill>
                  <a:schemeClr val="tx1"/>
                </a:solidFill>
                <a:latin typeface="Times New Roman" panose="02020603050405020304" pitchFamily="18" charset="0"/>
                <a:cs typeface="Times New Roman" panose="02020603050405020304" pitchFamily="18" charset="0"/>
              </a:rPr>
              <a:t>The web-based pharmacy system that is designed to improve accuracy and to enhance safety and efficiently pharmaceutical store. </a:t>
            </a:r>
          </a:p>
          <a:p>
            <a:pPr algn="just">
              <a:lnSpc>
                <a:spcPct val="150000"/>
              </a:lnSpc>
            </a:pPr>
            <a:r>
              <a:rPr lang="en-US" dirty="0">
                <a:solidFill>
                  <a:schemeClr val="tx1"/>
                </a:solidFill>
                <a:latin typeface="Times New Roman" panose="02020603050405020304" pitchFamily="18" charset="0"/>
                <a:cs typeface="Times New Roman" panose="02020603050405020304" pitchFamily="18" charset="0"/>
              </a:rPr>
              <a:t>It helps to customer for time saving and less costing .</a:t>
            </a:r>
          </a:p>
          <a:p>
            <a:pPr algn="just">
              <a:lnSpc>
                <a:spcPct val="150000"/>
              </a:lnSpc>
            </a:pPr>
            <a:r>
              <a:rPr lang="en-US" dirty="0">
                <a:solidFill>
                  <a:schemeClr val="tx1"/>
                </a:solidFill>
                <a:latin typeface="Times New Roman" panose="02020603050405020304" pitchFamily="18" charset="0"/>
                <a:cs typeface="Times New Roman" panose="02020603050405020304" pitchFamily="18" charset="0"/>
              </a:rPr>
              <a:t>It helps patients to manage drugs easily by using online order approach the system will contain an interactive user interface so that the user can easily access all the features of the system. </a:t>
            </a:r>
          </a:p>
          <a:p>
            <a:pPr algn="just">
              <a:lnSpc>
                <a:spcPct val="150000"/>
              </a:lnSpc>
            </a:pPr>
            <a:r>
              <a:rPr lang="en-US" dirty="0">
                <a:solidFill>
                  <a:schemeClr val="tx1"/>
                </a:solidFill>
                <a:latin typeface="Times New Roman" panose="02020603050405020304" pitchFamily="18" charset="0"/>
                <a:cs typeface="Times New Roman" panose="02020603050405020304" pitchFamily="18" charset="0"/>
              </a:rPr>
              <a:t>The traditional pharmacy is take more time consuming and traditional paper based system.</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1334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D4551-0701-4995-A2F0-ABD7E1F0F9F2}"/>
              </a:ext>
            </a:extLst>
          </p:cNvPr>
          <p:cNvSpPr>
            <a:spLocks noGrp="1"/>
          </p:cNvSpPr>
          <p:nvPr>
            <p:ph type="title"/>
          </p:nvPr>
        </p:nvSpPr>
        <p:spPr/>
        <p:txBody>
          <a:bodyPr/>
          <a:lstStyle/>
          <a:p>
            <a:r>
              <a:rPr lang="en-IN" b="1" dirty="0"/>
              <a:t>PROBLEM STATEMENT</a:t>
            </a:r>
          </a:p>
        </p:txBody>
      </p:sp>
      <p:sp>
        <p:nvSpPr>
          <p:cNvPr id="3" name="Content Placeholder 2">
            <a:extLst>
              <a:ext uri="{FF2B5EF4-FFF2-40B4-BE49-F238E27FC236}">
                <a16:creationId xmlns:a16="http://schemas.microsoft.com/office/drawing/2014/main" id="{2EADDB3F-1CC9-4B39-A4A8-F3DE301C1BCD}"/>
              </a:ext>
            </a:extLst>
          </p:cNvPr>
          <p:cNvSpPr>
            <a:spLocks noGrp="1"/>
          </p:cNvSpPr>
          <p:nvPr>
            <p:ph idx="1"/>
          </p:nvPr>
        </p:nvSpPr>
        <p:spPr/>
        <p:txBody>
          <a:bodyPr>
            <a:normAutofit lnSpcReduction="10000"/>
          </a:bodyPr>
          <a:lstStyle/>
          <a:p>
            <a:pPr algn="just">
              <a:lnSpc>
                <a:spcPct val="150000"/>
              </a:lnSpc>
            </a:pPr>
            <a:r>
              <a:rPr lang="en-US" sz="2000" dirty="0">
                <a:solidFill>
                  <a:schemeClr val="tx1"/>
                </a:solidFill>
                <a:latin typeface="Times New Roman" panose="02020603050405020304" pitchFamily="18" charset="0"/>
                <a:cs typeface="Times New Roman" panose="02020603050405020304" pitchFamily="18" charset="0"/>
              </a:rPr>
              <a:t>Managing a very large pharmacy with records on papers will be tedious and difficult to keep track of inventories with regards to the drugs in the store, expiry date, quantity of drugs available based on the categories and their functions.</a:t>
            </a:r>
          </a:p>
          <a:p>
            <a:pPr algn="just">
              <a:lnSpc>
                <a:spcPct val="150000"/>
              </a:lnSpc>
            </a:pPr>
            <a:r>
              <a:rPr lang="en-US" sz="2000" b="0" i="0" dirty="0">
                <a:solidFill>
                  <a:schemeClr val="tx1"/>
                </a:solidFill>
                <a:effectLst/>
                <a:latin typeface="Times New Roman" panose="02020603050405020304" pitchFamily="18" charset="0"/>
                <a:cs typeface="Times New Roman" panose="02020603050405020304" pitchFamily="18" charset="0"/>
              </a:rPr>
              <a:t>The existing manual process of managing a pharmacy is time-consuming, error-prone, and lacks efficiency. </a:t>
            </a:r>
          </a:p>
          <a:p>
            <a:pPr algn="just">
              <a:lnSpc>
                <a:spcPct val="150000"/>
              </a:lnSpc>
            </a:pPr>
            <a:r>
              <a:rPr lang="en-US" sz="2000" b="0" i="0" dirty="0">
                <a:solidFill>
                  <a:schemeClr val="tx1"/>
                </a:solidFill>
                <a:effectLst/>
                <a:latin typeface="Times New Roman" panose="02020603050405020304" pitchFamily="18" charset="0"/>
                <a:cs typeface="Times New Roman" panose="02020603050405020304" pitchFamily="18" charset="0"/>
              </a:rPr>
              <a:t>The pharmacy staff must manually keep track of inventory, sales, customer information, and medication orders, which is prone to errors and delays.</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483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3D17E-59C2-4076-92D7-7932F41C196A}"/>
              </a:ext>
            </a:extLst>
          </p:cNvPr>
          <p:cNvSpPr>
            <a:spLocks noGrp="1"/>
          </p:cNvSpPr>
          <p:nvPr>
            <p:ph type="title"/>
          </p:nvPr>
        </p:nvSpPr>
        <p:spPr/>
        <p:txBody>
          <a:bodyPr/>
          <a:lstStyle/>
          <a:p>
            <a:r>
              <a:rPr lang="en-IN" b="1" dirty="0"/>
              <a:t>LITERATURE REVIEW</a:t>
            </a:r>
          </a:p>
        </p:txBody>
      </p:sp>
      <p:sp>
        <p:nvSpPr>
          <p:cNvPr id="3" name="Content Placeholder 2">
            <a:extLst>
              <a:ext uri="{FF2B5EF4-FFF2-40B4-BE49-F238E27FC236}">
                <a16:creationId xmlns:a16="http://schemas.microsoft.com/office/drawing/2014/main" id="{0AE50B34-6518-46C8-9F6A-549D7F5D8DAE}"/>
              </a:ext>
            </a:extLst>
          </p:cNvPr>
          <p:cNvSpPr>
            <a:spLocks noGrp="1"/>
          </p:cNvSpPr>
          <p:nvPr>
            <p:ph idx="1"/>
          </p:nvPr>
        </p:nvSpPr>
        <p:spPr>
          <a:xfrm>
            <a:off x="1154954" y="2603500"/>
            <a:ext cx="9320696" cy="3416300"/>
          </a:xfrm>
        </p:spPr>
        <p:txBody>
          <a:bodyPr>
            <a:normAutofit lnSpcReduction="10000"/>
          </a:bodyPr>
          <a:lstStyle/>
          <a:p>
            <a:pPr algn="just">
              <a:lnSpc>
                <a:spcPct val="150000"/>
              </a:lnSpc>
            </a:pPr>
            <a:r>
              <a:rPr lang="en-US" sz="2000" dirty="0">
                <a:solidFill>
                  <a:schemeClr val="tx1"/>
                </a:solidFill>
                <a:latin typeface="Times New Roman" panose="02020603050405020304" pitchFamily="18" charset="0"/>
                <a:cs typeface="Times New Roman" panose="02020603050405020304" pitchFamily="18" charset="0"/>
              </a:rPr>
              <a:t>O</a:t>
            </a:r>
            <a:r>
              <a:rPr lang="en-US" sz="2000" b="0" i="0" dirty="0">
                <a:solidFill>
                  <a:schemeClr val="tx1"/>
                </a:solidFill>
                <a:effectLst/>
                <a:latin typeface="Times New Roman" panose="02020603050405020304" pitchFamily="18" charset="0"/>
                <a:cs typeface="Times New Roman" panose="02020603050405020304" pitchFamily="18" charset="0"/>
              </a:rPr>
              <a:t>nline pharmacy management system in improving efficiency, accuracy, and customer satisfaction. </a:t>
            </a:r>
          </a:p>
          <a:p>
            <a:pPr algn="just">
              <a:lnSpc>
                <a:spcPct val="150000"/>
              </a:lnSpc>
            </a:pPr>
            <a:r>
              <a:rPr lang="en-US" sz="2000" b="0" i="0" dirty="0">
                <a:solidFill>
                  <a:schemeClr val="tx1"/>
                </a:solidFill>
                <a:effectLst/>
                <a:latin typeface="Times New Roman" panose="02020603050405020304" pitchFamily="18" charset="0"/>
                <a:cs typeface="Times New Roman" panose="02020603050405020304" pitchFamily="18" charset="0"/>
              </a:rPr>
              <a:t>The use of Java and MySQL as the development tools is a common theme in the literature, indicating their popularity and effectiveness in developing such systems. </a:t>
            </a:r>
          </a:p>
          <a:p>
            <a:pPr algn="just">
              <a:lnSpc>
                <a:spcPct val="150000"/>
              </a:lnSpc>
            </a:pPr>
            <a:r>
              <a:rPr lang="en-US" sz="2000" b="0" i="0" dirty="0">
                <a:solidFill>
                  <a:schemeClr val="tx1"/>
                </a:solidFill>
                <a:effectLst/>
                <a:latin typeface="Times New Roman" panose="02020603050405020304" pitchFamily="18" charset="0"/>
                <a:cs typeface="Times New Roman" panose="02020603050405020304" pitchFamily="18" charset="0"/>
              </a:rPr>
              <a:t>The review also suggests the need to incorporate features such as inventory management, sales management, and customer management to provide a comprehensive solution for managing a pharmacy.</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558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E29F0-E9C2-4CAC-BBF0-2B0C1DC8D0F0}"/>
              </a:ext>
            </a:extLst>
          </p:cNvPr>
          <p:cNvSpPr>
            <a:spLocks noGrp="1"/>
          </p:cNvSpPr>
          <p:nvPr>
            <p:ph type="title"/>
          </p:nvPr>
        </p:nvSpPr>
        <p:spPr/>
        <p:txBody>
          <a:bodyPr/>
          <a:lstStyle/>
          <a:p>
            <a:r>
              <a:rPr lang="en-IN" b="1" dirty="0"/>
              <a:t>EXISTING SYSTEM</a:t>
            </a:r>
          </a:p>
        </p:txBody>
      </p:sp>
      <p:sp>
        <p:nvSpPr>
          <p:cNvPr id="3" name="Content Placeholder 2">
            <a:extLst>
              <a:ext uri="{FF2B5EF4-FFF2-40B4-BE49-F238E27FC236}">
                <a16:creationId xmlns:a16="http://schemas.microsoft.com/office/drawing/2014/main" id="{3DBF49B9-0D9B-4CF1-95EA-90BC05C0BDEA}"/>
              </a:ext>
            </a:extLst>
          </p:cNvPr>
          <p:cNvSpPr>
            <a:spLocks noGrp="1"/>
          </p:cNvSpPr>
          <p:nvPr>
            <p:ph idx="1"/>
          </p:nvPr>
        </p:nvSpPr>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Currently, the medical works are based on the manual process, and each work is maintained in the paper.</a:t>
            </a:r>
          </a:p>
          <a:p>
            <a:pPr algn="just">
              <a:lnSpc>
                <a:spcPct val="150000"/>
              </a:lnSpc>
            </a:pPr>
            <a:r>
              <a:rPr lang="en-US" sz="2000" dirty="0">
                <a:latin typeface="Times New Roman" panose="02020603050405020304" pitchFamily="18" charset="0"/>
                <a:cs typeface="Times New Roman" panose="02020603050405020304" pitchFamily="18" charset="0"/>
              </a:rPr>
              <a:t> The details of purchasing drugs, audits, sell reports maintained on the paper while anyone can enter into the system and can make changes in these reports, so it is not a safe method to keep the information on the paper.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5528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4E960-B52A-4432-B728-58959E635189}"/>
              </a:ext>
            </a:extLst>
          </p:cNvPr>
          <p:cNvSpPr>
            <a:spLocks noGrp="1"/>
          </p:cNvSpPr>
          <p:nvPr>
            <p:ph type="title"/>
          </p:nvPr>
        </p:nvSpPr>
        <p:spPr/>
        <p:txBody>
          <a:bodyPr/>
          <a:lstStyle/>
          <a:p>
            <a:r>
              <a:rPr lang="en-IN" b="1" dirty="0"/>
              <a:t>PROPOSED SYSTEM</a:t>
            </a:r>
          </a:p>
        </p:txBody>
      </p:sp>
      <p:sp>
        <p:nvSpPr>
          <p:cNvPr id="3" name="Content Placeholder 2">
            <a:extLst>
              <a:ext uri="{FF2B5EF4-FFF2-40B4-BE49-F238E27FC236}">
                <a16:creationId xmlns:a16="http://schemas.microsoft.com/office/drawing/2014/main" id="{BE13EB4D-F5E5-49B9-AB84-5DC478D72701}"/>
              </a:ext>
            </a:extLst>
          </p:cNvPr>
          <p:cNvSpPr>
            <a:spLocks noGrp="1"/>
          </p:cNvSpPr>
          <p:nvPr>
            <p:ph idx="1"/>
          </p:nvPr>
        </p:nvSpPr>
        <p:spPr/>
        <p:txBody>
          <a:bodyPr>
            <a:normAutofit/>
          </a:bodyPr>
          <a:lstStyle/>
          <a:p>
            <a:pPr algn="just">
              <a:lnSpc>
                <a:spcPct val="150000"/>
              </a:lnSpc>
            </a:pPr>
            <a:r>
              <a:rPr lang="en-US" sz="2000" dirty="0">
                <a:solidFill>
                  <a:schemeClr val="tx1"/>
                </a:solidFill>
                <a:latin typeface="Times New Roman" panose="02020603050405020304" pitchFamily="18" charset="0"/>
                <a:cs typeface="Times New Roman" panose="02020603050405020304" pitchFamily="18" charset="0"/>
              </a:rPr>
              <a:t>The design of the pharmacy management system is based on the computer which will simplify the maintenance of the information, accessible and efficient. </a:t>
            </a:r>
          </a:p>
          <a:p>
            <a:pPr algn="just">
              <a:lnSpc>
                <a:spcPct val="150000"/>
              </a:lnSpc>
            </a:pPr>
            <a:r>
              <a:rPr lang="en-US" sz="2000" dirty="0">
                <a:solidFill>
                  <a:schemeClr val="tx1"/>
                </a:solidFill>
                <a:latin typeface="Times New Roman" panose="02020603050405020304" pitchFamily="18" charset="0"/>
                <a:cs typeface="Times New Roman" panose="02020603050405020304" pitchFamily="18" charset="0"/>
              </a:rPr>
              <a:t>The Pharmacy Management System will provide the information about the end of the drugs in the medical so that the physician can order them drugs before the end. </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3854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78B84-D657-42B0-9801-8BD6415D4733}"/>
              </a:ext>
            </a:extLst>
          </p:cNvPr>
          <p:cNvSpPr>
            <a:spLocks noGrp="1"/>
          </p:cNvSpPr>
          <p:nvPr>
            <p:ph type="title"/>
          </p:nvPr>
        </p:nvSpPr>
        <p:spPr/>
        <p:txBody>
          <a:bodyPr/>
          <a:lstStyle/>
          <a:p>
            <a:r>
              <a:rPr lang="en-IN" b="1" dirty="0"/>
              <a:t>SYSTEM ARCHITECTURE</a:t>
            </a:r>
          </a:p>
        </p:txBody>
      </p:sp>
      <p:pic>
        <p:nvPicPr>
          <p:cNvPr id="5" name="Content Placeholder 4">
            <a:extLst>
              <a:ext uri="{FF2B5EF4-FFF2-40B4-BE49-F238E27FC236}">
                <a16:creationId xmlns:a16="http://schemas.microsoft.com/office/drawing/2014/main" id="{1447B477-4AB4-4943-A54A-A7D38012A1C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0090" t="16044" r="8504" b="6258"/>
          <a:stretch/>
        </p:blipFill>
        <p:spPr>
          <a:xfrm>
            <a:off x="1970844" y="2796466"/>
            <a:ext cx="7927758" cy="3417903"/>
          </a:xfrm>
        </p:spPr>
      </p:pic>
    </p:spTree>
    <p:extLst>
      <p:ext uri="{BB962C8B-B14F-4D97-AF65-F5344CB8AC3E}">
        <p14:creationId xmlns:p14="http://schemas.microsoft.com/office/powerpoint/2010/main" val="2421219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AACB0-8F7B-4C7B-9E37-D3B00DB705D4}"/>
              </a:ext>
            </a:extLst>
          </p:cNvPr>
          <p:cNvSpPr>
            <a:spLocks noGrp="1"/>
          </p:cNvSpPr>
          <p:nvPr>
            <p:ph type="title"/>
          </p:nvPr>
        </p:nvSpPr>
        <p:spPr/>
        <p:txBody>
          <a:bodyPr/>
          <a:lstStyle/>
          <a:p>
            <a:r>
              <a:rPr lang="en-IN" b="1" dirty="0"/>
              <a:t>SOFTWARE REQUIREMENTS</a:t>
            </a:r>
          </a:p>
        </p:txBody>
      </p:sp>
      <p:sp>
        <p:nvSpPr>
          <p:cNvPr id="3" name="Content Placeholder 2">
            <a:extLst>
              <a:ext uri="{FF2B5EF4-FFF2-40B4-BE49-F238E27FC236}">
                <a16:creationId xmlns:a16="http://schemas.microsoft.com/office/drawing/2014/main" id="{85EED886-6877-4184-A940-ADE3E009E2B8}"/>
              </a:ext>
            </a:extLst>
          </p:cNvPr>
          <p:cNvSpPr>
            <a:spLocks noGrp="1"/>
          </p:cNvSpPr>
          <p:nvPr>
            <p:ph idx="1"/>
          </p:nvPr>
        </p:nvSpPr>
        <p:spPr/>
        <p:txBody>
          <a:bodyPr/>
          <a:lstStyle/>
          <a:p>
            <a:pPr algn="just">
              <a:lnSpc>
                <a:spcPct val="150000"/>
              </a:lnSpc>
            </a:pPr>
            <a:r>
              <a:rPr lang="en-IN" sz="2000" b="0" i="0" dirty="0">
                <a:solidFill>
                  <a:schemeClr val="tx1"/>
                </a:solidFill>
                <a:effectLst/>
                <a:latin typeface="Times New Roman" panose="02020603050405020304" pitchFamily="18" charset="0"/>
                <a:cs typeface="Times New Roman" panose="02020603050405020304" pitchFamily="18" charset="0"/>
              </a:rPr>
              <a:t>Java Development Kit (JDK) version 8 or above.</a:t>
            </a:r>
          </a:p>
          <a:p>
            <a:pPr algn="just">
              <a:lnSpc>
                <a:spcPct val="150000"/>
              </a:lnSpc>
            </a:pPr>
            <a:r>
              <a:rPr lang="en-IN" sz="2000" b="0" i="0" dirty="0">
                <a:solidFill>
                  <a:schemeClr val="tx1"/>
                </a:solidFill>
                <a:effectLst/>
                <a:latin typeface="Times New Roman" panose="02020603050405020304" pitchFamily="18" charset="0"/>
                <a:cs typeface="Times New Roman" panose="02020603050405020304" pitchFamily="18" charset="0"/>
              </a:rPr>
              <a:t>Integrated Development Environment (IDE) such as Eclipse or NetBeans.</a:t>
            </a:r>
          </a:p>
          <a:p>
            <a:pPr algn="just">
              <a:lnSpc>
                <a:spcPct val="150000"/>
              </a:lnSpc>
            </a:pPr>
            <a:r>
              <a:rPr lang="en-IN" sz="2000" b="0" i="0" dirty="0">
                <a:solidFill>
                  <a:schemeClr val="tx1"/>
                </a:solidFill>
                <a:effectLst/>
                <a:latin typeface="Times New Roman" panose="02020603050405020304" pitchFamily="18" charset="0"/>
                <a:cs typeface="Times New Roman" panose="02020603050405020304" pitchFamily="18" charset="0"/>
              </a:rPr>
              <a:t>MySQL server version 5.6 or above.</a:t>
            </a:r>
          </a:p>
          <a:p>
            <a:pPr algn="just">
              <a:lnSpc>
                <a:spcPct val="150000"/>
              </a:lnSpc>
            </a:pPr>
            <a:r>
              <a:rPr lang="en-IN" sz="2000" b="0" i="0" dirty="0">
                <a:solidFill>
                  <a:schemeClr val="tx1"/>
                </a:solidFill>
                <a:effectLst/>
                <a:latin typeface="Times New Roman" panose="02020603050405020304" pitchFamily="18" charset="0"/>
                <a:cs typeface="Times New Roman" panose="02020603050405020304" pitchFamily="18" charset="0"/>
              </a:rPr>
              <a:t>MySQL Connector/J library for Java.</a:t>
            </a:r>
          </a:p>
          <a:p>
            <a:pPr algn="just">
              <a:lnSpc>
                <a:spcPct val="150000"/>
              </a:lnSpc>
            </a:pPr>
            <a:r>
              <a:rPr lang="en-IN" sz="2000" b="0" i="0" dirty="0">
                <a:solidFill>
                  <a:schemeClr val="tx1"/>
                </a:solidFill>
                <a:effectLst/>
                <a:latin typeface="Times New Roman" panose="02020603050405020304" pitchFamily="18" charset="0"/>
                <a:cs typeface="Times New Roman" panose="02020603050405020304" pitchFamily="18" charset="0"/>
              </a:rPr>
              <a:t>Apache Tomcat server.</a:t>
            </a:r>
          </a:p>
          <a:p>
            <a:endParaRPr lang="en-IN" dirty="0"/>
          </a:p>
        </p:txBody>
      </p:sp>
    </p:spTree>
    <p:extLst>
      <p:ext uri="{BB962C8B-B14F-4D97-AF65-F5344CB8AC3E}">
        <p14:creationId xmlns:p14="http://schemas.microsoft.com/office/powerpoint/2010/main" val="2773415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17367-8D5B-435D-BB8D-EA892FC99817}"/>
              </a:ext>
            </a:extLst>
          </p:cNvPr>
          <p:cNvSpPr>
            <a:spLocks noGrp="1"/>
          </p:cNvSpPr>
          <p:nvPr>
            <p:ph type="title"/>
          </p:nvPr>
        </p:nvSpPr>
        <p:spPr/>
        <p:txBody>
          <a:bodyPr/>
          <a:lstStyle/>
          <a:p>
            <a:r>
              <a:rPr lang="en-IN" b="1" dirty="0"/>
              <a:t>HARDWARE REQUIREMENTS</a:t>
            </a:r>
          </a:p>
        </p:txBody>
      </p:sp>
      <p:sp>
        <p:nvSpPr>
          <p:cNvPr id="3" name="Content Placeholder 2">
            <a:extLst>
              <a:ext uri="{FF2B5EF4-FFF2-40B4-BE49-F238E27FC236}">
                <a16:creationId xmlns:a16="http://schemas.microsoft.com/office/drawing/2014/main" id="{3174C5FC-0DB6-4B09-A28D-0461949C2AE3}"/>
              </a:ext>
            </a:extLst>
          </p:cNvPr>
          <p:cNvSpPr>
            <a:spLocks noGrp="1"/>
          </p:cNvSpPr>
          <p:nvPr>
            <p:ph idx="1"/>
          </p:nvPr>
        </p:nvSpPr>
        <p:spPr/>
        <p:txBody>
          <a:bodyPr/>
          <a:lstStyle/>
          <a:p>
            <a:pPr algn="just">
              <a:lnSpc>
                <a:spcPct val="150000"/>
              </a:lnSpc>
            </a:pPr>
            <a:r>
              <a:rPr lang="en-US" sz="2000" b="0" i="0" dirty="0">
                <a:solidFill>
                  <a:schemeClr val="tx1"/>
                </a:solidFill>
                <a:effectLst/>
                <a:latin typeface="Times New Roman" panose="02020603050405020304" pitchFamily="18" charset="0"/>
                <a:cs typeface="Times New Roman" panose="02020603050405020304" pitchFamily="18" charset="0"/>
              </a:rPr>
              <a:t>Processor: Intel Core i5 or higher.</a:t>
            </a:r>
          </a:p>
          <a:p>
            <a:pPr algn="just">
              <a:lnSpc>
                <a:spcPct val="150000"/>
              </a:lnSpc>
            </a:pPr>
            <a:r>
              <a:rPr lang="en-US" sz="2000" b="0" i="0" dirty="0">
                <a:solidFill>
                  <a:schemeClr val="tx1"/>
                </a:solidFill>
                <a:effectLst/>
                <a:latin typeface="Times New Roman" panose="02020603050405020304" pitchFamily="18" charset="0"/>
                <a:cs typeface="Times New Roman" panose="02020603050405020304" pitchFamily="18" charset="0"/>
              </a:rPr>
              <a:t>RAM: 4GB or higher.</a:t>
            </a:r>
          </a:p>
          <a:p>
            <a:pPr algn="just">
              <a:lnSpc>
                <a:spcPct val="150000"/>
              </a:lnSpc>
            </a:pPr>
            <a:r>
              <a:rPr lang="en-US" sz="2000" b="0" i="0" dirty="0">
                <a:solidFill>
                  <a:schemeClr val="tx1"/>
                </a:solidFill>
                <a:effectLst/>
                <a:latin typeface="Times New Roman" panose="02020603050405020304" pitchFamily="18" charset="0"/>
                <a:cs typeface="Times New Roman" panose="02020603050405020304" pitchFamily="18" charset="0"/>
              </a:rPr>
              <a:t>Hard disk space: 20GB or higher.</a:t>
            </a:r>
          </a:p>
          <a:p>
            <a:pPr algn="just">
              <a:lnSpc>
                <a:spcPct val="150000"/>
              </a:lnSpc>
            </a:pPr>
            <a:r>
              <a:rPr lang="en-US" sz="2000" b="0" i="0" dirty="0">
                <a:solidFill>
                  <a:schemeClr val="tx1"/>
                </a:solidFill>
                <a:effectLst/>
                <a:latin typeface="Times New Roman" panose="02020603050405020304" pitchFamily="18" charset="0"/>
                <a:cs typeface="Times New Roman" panose="02020603050405020304" pitchFamily="18" charset="0"/>
              </a:rPr>
              <a:t>Operating System: Windows, Linux, or Mac OS.</a:t>
            </a:r>
          </a:p>
          <a:p>
            <a:endParaRPr lang="en-IN" dirty="0"/>
          </a:p>
        </p:txBody>
      </p:sp>
    </p:spTree>
    <p:extLst>
      <p:ext uri="{BB962C8B-B14F-4D97-AF65-F5344CB8AC3E}">
        <p14:creationId xmlns:p14="http://schemas.microsoft.com/office/powerpoint/2010/main" val="2012875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D3D8C-2FA9-432D-BD83-7FD18E85E248}"/>
              </a:ext>
            </a:extLst>
          </p:cNvPr>
          <p:cNvSpPr>
            <a:spLocks noGrp="1"/>
          </p:cNvSpPr>
          <p:nvPr>
            <p:ph type="title"/>
          </p:nvPr>
        </p:nvSpPr>
        <p:spPr/>
        <p:txBody>
          <a:bodyPr/>
          <a:lstStyle/>
          <a:p>
            <a:r>
              <a:rPr lang="en-IN" b="1" dirty="0"/>
              <a:t>SYSTEM DESIGN</a:t>
            </a:r>
          </a:p>
        </p:txBody>
      </p:sp>
      <p:sp>
        <p:nvSpPr>
          <p:cNvPr id="3" name="Content Placeholder 2">
            <a:extLst>
              <a:ext uri="{FF2B5EF4-FFF2-40B4-BE49-F238E27FC236}">
                <a16:creationId xmlns:a16="http://schemas.microsoft.com/office/drawing/2014/main" id="{5094AAEF-D9E1-436E-A3B4-D13297A6F416}"/>
              </a:ext>
            </a:extLst>
          </p:cNvPr>
          <p:cNvSpPr>
            <a:spLocks noGrp="1"/>
          </p:cNvSpPr>
          <p:nvPr>
            <p:ph idx="1"/>
          </p:nvPr>
        </p:nvSpPr>
        <p:spPr/>
        <p:txBody>
          <a:bodyPr>
            <a:normAutofit/>
          </a:bodyPr>
          <a:lstStyle/>
          <a:p>
            <a:pPr algn="just">
              <a:lnSpc>
                <a:spcPct val="150000"/>
              </a:lnSpc>
            </a:pPr>
            <a:r>
              <a:rPr lang="en-US" sz="2000" b="0" i="0" dirty="0">
                <a:solidFill>
                  <a:schemeClr val="tx1"/>
                </a:solidFill>
                <a:effectLst/>
                <a:latin typeface="Times New Roman" panose="02020603050405020304" pitchFamily="18" charset="0"/>
                <a:cs typeface="Times New Roman" panose="02020603050405020304" pitchFamily="18" charset="0"/>
              </a:rPr>
              <a:t>System design is the process of defining the architecture, components, modules, interfaces, and data for a software system to satisfy specified requirements.</a:t>
            </a:r>
          </a:p>
          <a:p>
            <a:pPr algn="just">
              <a:lnSpc>
                <a:spcPct val="150000"/>
              </a:lnSpc>
            </a:pPr>
            <a:r>
              <a:rPr lang="en-US" sz="2000" b="0" i="0" dirty="0">
                <a:solidFill>
                  <a:schemeClr val="tx1"/>
                </a:solidFill>
                <a:effectLst/>
                <a:latin typeface="Times New Roman" panose="02020603050405020304" pitchFamily="18" charset="0"/>
                <a:cs typeface="Times New Roman" panose="02020603050405020304" pitchFamily="18" charset="0"/>
              </a:rPr>
              <a:t> It involves the creation of a blueprint or a plan that outlines the structure and behavior of the system. </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9135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EB4E9-19BD-467E-A3FE-0AF1E2672565}"/>
              </a:ext>
            </a:extLst>
          </p:cNvPr>
          <p:cNvSpPr>
            <a:spLocks noGrp="1"/>
          </p:cNvSpPr>
          <p:nvPr>
            <p:ph type="title"/>
          </p:nvPr>
        </p:nvSpPr>
        <p:spPr/>
        <p:txBody>
          <a:bodyPr/>
          <a:lstStyle/>
          <a:p>
            <a:r>
              <a:rPr lang="en-IN" b="1" dirty="0"/>
              <a:t>E-R DIAGRAM</a:t>
            </a:r>
          </a:p>
        </p:txBody>
      </p:sp>
      <p:pic>
        <p:nvPicPr>
          <p:cNvPr id="5" name="Content Placeholder 4">
            <a:extLst>
              <a:ext uri="{FF2B5EF4-FFF2-40B4-BE49-F238E27FC236}">
                <a16:creationId xmlns:a16="http://schemas.microsoft.com/office/drawing/2014/main" id="{D773416C-379D-493D-AB3C-4E11D1553214}"/>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96140" y="2603500"/>
            <a:ext cx="9330431" cy="3912710"/>
          </a:xfrm>
        </p:spPr>
      </p:pic>
    </p:spTree>
    <p:extLst>
      <p:ext uri="{BB962C8B-B14F-4D97-AF65-F5344CB8AC3E}">
        <p14:creationId xmlns:p14="http://schemas.microsoft.com/office/powerpoint/2010/main" val="2230008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DB3F0-F365-48F6-91CA-3934877E5EF7}"/>
              </a:ext>
            </a:extLst>
          </p:cNvPr>
          <p:cNvSpPr>
            <a:spLocks noGrp="1"/>
          </p:cNvSpPr>
          <p:nvPr>
            <p:ph type="title"/>
          </p:nvPr>
        </p:nvSpPr>
        <p:spPr/>
        <p:txBody>
          <a:bodyPr/>
          <a:lstStyle/>
          <a:p>
            <a:r>
              <a:rPr lang="en-IN" dirty="0"/>
              <a:t>DATA FLOW DIAGRAM</a:t>
            </a:r>
          </a:p>
        </p:txBody>
      </p:sp>
      <p:pic>
        <p:nvPicPr>
          <p:cNvPr id="5" name="Content Placeholder 4">
            <a:extLst>
              <a:ext uri="{FF2B5EF4-FFF2-40B4-BE49-F238E27FC236}">
                <a16:creationId xmlns:a16="http://schemas.microsoft.com/office/drawing/2014/main" id="{90B8FF99-BEAA-4AE4-9A0E-842C6EE489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4614" y="2603500"/>
            <a:ext cx="8566951" cy="3416300"/>
          </a:xfrm>
        </p:spPr>
      </p:pic>
    </p:spTree>
    <p:extLst>
      <p:ext uri="{BB962C8B-B14F-4D97-AF65-F5344CB8AC3E}">
        <p14:creationId xmlns:p14="http://schemas.microsoft.com/office/powerpoint/2010/main" val="317847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16E10-12C8-496A-9DCC-7B8A9D732455}"/>
              </a:ext>
            </a:extLst>
          </p:cNvPr>
          <p:cNvSpPr>
            <a:spLocks noGrp="1"/>
          </p:cNvSpPr>
          <p:nvPr>
            <p:ph type="title"/>
          </p:nvPr>
        </p:nvSpPr>
        <p:spPr/>
        <p:txBody>
          <a:bodyPr/>
          <a:lstStyle/>
          <a:p>
            <a:r>
              <a:rPr lang="en-IN" b="1" dirty="0"/>
              <a:t>CONCLUSION</a:t>
            </a:r>
          </a:p>
        </p:txBody>
      </p:sp>
      <p:sp>
        <p:nvSpPr>
          <p:cNvPr id="3" name="Content Placeholder 2">
            <a:extLst>
              <a:ext uri="{FF2B5EF4-FFF2-40B4-BE49-F238E27FC236}">
                <a16:creationId xmlns:a16="http://schemas.microsoft.com/office/drawing/2014/main" id="{7D1A9B7A-DBCE-4331-840C-51D2A7CB7DF0}"/>
              </a:ext>
            </a:extLst>
          </p:cNvPr>
          <p:cNvSpPr>
            <a:spLocks noGrp="1"/>
          </p:cNvSpPr>
          <p:nvPr>
            <p:ph idx="1"/>
          </p:nvPr>
        </p:nvSpPr>
        <p:spPr/>
        <p:txBody>
          <a:bodyPr>
            <a:normAutofit/>
          </a:bodyPr>
          <a:lstStyle/>
          <a:p>
            <a:pPr algn="just">
              <a:lnSpc>
                <a:spcPct val="150000"/>
              </a:lnSpc>
            </a:pPr>
            <a:r>
              <a:rPr lang="en-US" sz="2000" b="0" i="0" dirty="0">
                <a:solidFill>
                  <a:schemeClr val="tx1"/>
                </a:solidFill>
                <a:effectLst/>
                <a:latin typeface="Times New Roman" panose="02020603050405020304" pitchFamily="18" charset="0"/>
                <a:cs typeface="Times New Roman" panose="02020603050405020304" pitchFamily="18" charset="0"/>
              </a:rPr>
              <a:t>In conclusion, an online pharmacy management system developed using Java and MySQL can provide an efficient and reliable solution for managing pharmacy operations. </a:t>
            </a:r>
          </a:p>
          <a:p>
            <a:pPr algn="just">
              <a:lnSpc>
                <a:spcPct val="150000"/>
              </a:lnSpc>
            </a:pPr>
            <a:r>
              <a:rPr lang="en-US" sz="2000" b="0" i="0" dirty="0">
                <a:solidFill>
                  <a:schemeClr val="tx1"/>
                </a:solidFill>
                <a:effectLst/>
                <a:latin typeface="Times New Roman" panose="02020603050405020304" pitchFamily="18" charset="0"/>
                <a:cs typeface="Times New Roman" panose="02020603050405020304" pitchFamily="18" charset="0"/>
              </a:rPr>
              <a:t>The system can enable pharmacists to manage drug inventory, patient records, billing, and other critical functions. By leveraging Java's object-oriented programming capabilities and MySQL's robust relational database management system, developers can create a system that is scalable, flexible, and secure.</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4859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D123B4-67CB-4670-8C9E-F2BFE1619363}"/>
              </a:ext>
            </a:extLst>
          </p:cNvPr>
          <p:cNvSpPr>
            <a:spLocks noGrp="1"/>
          </p:cNvSpPr>
          <p:nvPr>
            <p:ph idx="1"/>
          </p:nvPr>
        </p:nvSpPr>
        <p:spPr/>
        <p:txBody>
          <a:bodyPr>
            <a:normAutofit fontScale="85000" lnSpcReduction="20000"/>
          </a:bodyPr>
          <a:lstStyle/>
          <a:p>
            <a:pPr marL="0" indent="0" algn="ctr">
              <a:buNone/>
            </a:pPr>
            <a:r>
              <a:rPr lang="en-IN" sz="15400" b="1" dirty="0">
                <a:solidFill>
                  <a:schemeClr val="tx1"/>
                </a:solidFill>
              </a:rPr>
              <a:t>THANK YOU</a:t>
            </a:r>
          </a:p>
        </p:txBody>
      </p:sp>
    </p:spTree>
    <p:extLst>
      <p:ext uri="{BB962C8B-B14F-4D97-AF65-F5344CB8AC3E}">
        <p14:creationId xmlns:p14="http://schemas.microsoft.com/office/powerpoint/2010/main" val="12376159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docProps/app.xml><?xml version="1.0" encoding="utf-8"?>
<Properties xmlns="http://schemas.openxmlformats.org/officeDocument/2006/extended-properties" xmlns:vt="http://schemas.openxmlformats.org/officeDocument/2006/docPropsVTypes">
  <Template>Ion Boardroom</Template>
  <TotalTime>424</TotalTime>
  <Words>665</Words>
  <Application>Microsoft Office PowerPoint</Application>
  <PresentationFormat>Widescreen</PresentationFormat>
  <Paragraphs>56</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Century Gothic</vt:lpstr>
      <vt:lpstr>Times New Roman</vt:lpstr>
      <vt:lpstr>Wingdings 3</vt:lpstr>
      <vt:lpstr>Ion Boardroom</vt:lpstr>
      <vt:lpstr>ONLINE PHARMACY MANAGEMENT SYSTEM IN  JAVA MYSQL</vt:lpstr>
      <vt:lpstr>INDEX</vt:lpstr>
      <vt:lpstr>INTRODUCTION</vt:lpstr>
      <vt:lpstr>AIM</vt:lpstr>
      <vt:lpstr>PROBLEM STATEMENT</vt:lpstr>
      <vt:lpstr>LITERATURE REVIEW</vt:lpstr>
      <vt:lpstr>EXISTING SYSTEM</vt:lpstr>
      <vt:lpstr>PROPOSED SYSTEM</vt:lpstr>
      <vt:lpstr>SYSTEM ARCHITECTURE</vt:lpstr>
      <vt:lpstr>SOFTWARE REQUIREMENTS</vt:lpstr>
      <vt:lpstr>HARDWARE REQUIREMENTS</vt:lpstr>
      <vt:lpstr>SYSTEM DESIGN</vt:lpstr>
      <vt:lpstr>E-R DIAGRAM</vt:lpstr>
      <vt:lpstr>DATA FLOW DIAGRAM</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PHAMACY</dc:title>
  <dc:creator>GAJEN PRADHAN</dc:creator>
  <cp:lastModifiedBy>GAJEN PRADHAN</cp:lastModifiedBy>
  <cp:revision>3</cp:revision>
  <dcterms:created xsi:type="dcterms:W3CDTF">2023-04-22T06:13:46Z</dcterms:created>
  <dcterms:modified xsi:type="dcterms:W3CDTF">2023-05-05T18:42:24Z</dcterms:modified>
</cp:coreProperties>
</file>